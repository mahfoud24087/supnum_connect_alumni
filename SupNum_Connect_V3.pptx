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2" r:id="rId10"/>
    <p:sldId id="264" r:id="rId11"/>
    <p:sldId id="267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3599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D4D4D-5FEB-63CF-4E0D-1E4BC609F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C5851-7560-91A6-890C-4AC49ADDF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4098F-4975-8019-C0B6-77AB64205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81CF4-D7FC-52D4-9A7D-F4E8191D65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27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C856F-AFDB-9CB3-16B4-06429B424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358BE-60DB-0258-E9C7-35D1B7261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9208E-5BA1-EAF6-C035-0064E4965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A2244-22B2-27BD-0AC8-AB8ED92509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476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1AAF9-D0A1-2426-2F89-23BE7CE36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E9F60-B265-B413-4498-61B08495B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1A75C-F4BD-5242-B24C-2DFE3C83F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18020-6250-57F0-E4CE-BBE6C256A6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02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76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2032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pPr algn="ctr">
              <a:lnSpc>
                <a:spcPts val="15639"/>
              </a:lnSpc>
            </a:pPr>
            <a:endParaRPr lang="fr-FR" sz="1800" b="1" noProof="0" dirty="0">
              <a:solidFill>
                <a:schemeClr val="tx2">
                  <a:lumMod val="20000"/>
                  <a:lumOff val="80000"/>
                </a:schemeClr>
              </a:solidFill>
              <a:latin typeface="Aileron Bold"/>
              <a:sym typeface="Aileron Bold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 flipV="1">
            <a:off x="457200" y="2194561"/>
            <a:ext cx="8422640" cy="45719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7947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b="1" dirty="0">
              <a:solidFill>
                <a:schemeClr val="tx2">
                  <a:lumMod val="40000"/>
                  <a:lumOff val="60000"/>
                </a:schemeClr>
              </a:solidFill>
              <a:latin typeface="Trebuchet MS" pitchFamily="34" charset="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4764404"/>
            <a:ext cx="2550160" cy="4125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000" kern="100" noProof="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Année universitaire : 2025 – 2026</a:t>
            </a:r>
            <a:endParaRPr lang="fr-FR" sz="900" kern="100" noProof="0" dirty="0">
              <a:solidFill>
                <a:schemeClr val="tx2">
                  <a:lumMod val="40000"/>
                  <a:lumOff val="6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0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02ABC40-E0A4-4143-9E09-6DF54A587D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340" y="23515"/>
            <a:ext cx="1188720" cy="98044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875F34EE-1062-444A-A0EA-AF88BB37C4E7}"/>
              </a:ext>
            </a:extLst>
          </p:cNvPr>
          <p:cNvSpPr txBox="1"/>
          <p:nvPr/>
        </p:nvSpPr>
        <p:spPr>
          <a:xfrm>
            <a:off x="2560320" y="977392"/>
            <a:ext cx="474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Aileron Bold"/>
              </a:rPr>
              <a:t>Institut Supérieur du Numérique</a:t>
            </a:r>
            <a:endParaRPr lang="fr-FR" sz="1800" b="1" noProof="0" dirty="0">
              <a:solidFill>
                <a:schemeClr val="tx2">
                  <a:lumMod val="40000"/>
                  <a:lumOff val="60000"/>
                </a:schemeClr>
              </a:solidFill>
              <a:latin typeface="Aileron Bold"/>
              <a:sym typeface="Aileron Bold"/>
            </a:endParaRPr>
          </a:p>
          <a:p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2F430D9-BC55-449A-A482-2B4F4E0CFBF9}"/>
              </a:ext>
            </a:extLst>
          </p:cNvPr>
          <p:cNvSpPr txBox="1"/>
          <p:nvPr/>
        </p:nvSpPr>
        <p:spPr>
          <a:xfrm>
            <a:off x="982980" y="1531620"/>
            <a:ext cx="80924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Gestion du Réseau Alumni à </a:t>
            </a:r>
            <a:r>
              <a:rPr lang="fr-FR" sz="3200" b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SupNum</a:t>
            </a:r>
            <a:endParaRPr lang="en-US" sz="3200" b="1" dirty="0">
              <a:solidFill>
                <a:schemeClr val="tx2">
                  <a:lumMod val="40000"/>
                  <a:lumOff val="60000"/>
                </a:schemeClr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  <a:p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5161E3D-1B5B-4EEC-B52D-F59BB99E82A9}"/>
              </a:ext>
            </a:extLst>
          </p:cNvPr>
          <p:cNvSpPr txBox="1"/>
          <p:nvPr/>
        </p:nvSpPr>
        <p:spPr>
          <a:xfrm>
            <a:off x="502920" y="2397264"/>
            <a:ext cx="159004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fr-FR" sz="1200" kern="1200" noProof="0" dirty="0">
                <a:solidFill>
                  <a:srgbClr val="8F9EC2"/>
                </a:solidFill>
                <a:effectLst/>
                <a:latin typeface="Bahnschrift Condensed" panose="020B0502040204020203" pitchFamily="34" charset="0"/>
              </a:rPr>
              <a:t>Réalisé par : </a:t>
            </a:r>
            <a:endParaRPr lang="fr-FR" sz="1200" noProof="0" dirty="0">
              <a:solidFill>
                <a:srgbClr val="8F9EC2"/>
              </a:solidFill>
              <a:effectLst/>
              <a:latin typeface="Bahnschrift Condensed" panose="020B0502040204020203" pitchFamily="34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67FBEC6-60E8-4996-95E8-BCA294D7A642}"/>
              </a:ext>
            </a:extLst>
          </p:cNvPr>
          <p:cNvSpPr txBox="1"/>
          <p:nvPr/>
        </p:nvSpPr>
        <p:spPr>
          <a:xfrm>
            <a:off x="833120" y="2675620"/>
            <a:ext cx="713740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24044</a:t>
            </a:r>
            <a:r>
              <a:rPr lang="fr-FR" sz="105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fr-FR" sz="1050" noProof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Eboubecrine</a:t>
            </a:r>
            <a:r>
              <a:rPr lang="fr-FR" sz="105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Mohamed Abderrahmane </a:t>
            </a:r>
            <a:r>
              <a:rPr lang="fr-FR" sz="1050" noProof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Mahame</a:t>
            </a:r>
            <a:r>
              <a:rPr lang="fr-FR" sz="105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050" noProof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Bowba</a:t>
            </a:r>
            <a:endParaRPr lang="fr-FR" sz="1050" noProof="0" dirty="0">
              <a:solidFill>
                <a:schemeClr val="tx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00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24101</a:t>
            </a:r>
            <a:r>
              <a:rPr lang="fr-FR" sz="105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Ishagh </a:t>
            </a:r>
            <a:r>
              <a:rPr lang="fr-FR" sz="105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boubecar</a:t>
            </a:r>
            <a:r>
              <a:rPr lang="fr-FR" sz="105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sisse</a:t>
            </a:r>
          </a:p>
          <a:p>
            <a:r>
              <a:rPr lang="en-US" sz="100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24043</a:t>
            </a:r>
            <a:r>
              <a:rPr lang="en-US" sz="105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 </a:t>
            </a:r>
            <a:r>
              <a:rPr lang="en-US" sz="105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Abdallahi</a:t>
            </a:r>
            <a:r>
              <a:rPr lang="en-US" sz="1050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Abou </a:t>
            </a:r>
            <a:r>
              <a:rPr lang="en-US" sz="1050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Ba</a:t>
            </a:r>
          </a:p>
          <a:p>
            <a:r>
              <a:rPr lang="en-US" sz="1000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24171</a:t>
            </a:r>
            <a:r>
              <a:rPr lang="en-US" sz="1050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   </a:t>
            </a:r>
            <a:r>
              <a:rPr lang="en-US" sz="105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Nane</a:t>
            </a:r>
            <a:r>
              <a:rPr lang="en-US" sz="1050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 Sidi </a:t>
            </a:r>
            <a:r>
              <a:rPr lang="en-US" sz="105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Khlifa</a:t>
            </a:r>
            <a:endParaRPr lang="en-US" sz="1050" dirty="0">
              <a:solidFill>
                <a:schemeClr val="tx2">
                  <a:lumMod val="40000"/>
                  <a:lumOff val="6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en-US" sz="1000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24087</a:t>
            </a:r>
            <a:r>
              <a:rPr lang="en-US" sz="1050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  </a:t>
            </a:r>
            <a:r>
              <a:rPr lang="en-US" sz="105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Mahfoud</a:t>
            </a:r>
            <a:r>
              <a:rPr lang="en-US" sz="1050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Khayri</a:t>
            </a:r>
            <a:endParaRPr lang="en-US" sz="1050" dirty="0">
              <a:solidFill>
                <a:schemeClr val="tx2">
                  <a:lumMod val="40000"/>
                  <a:lumOff val="6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en-US" sz="1050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24236  </a:t>
            </a:r>
            <a:r>
              <a:rPr lang="en-US" sz="105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Khatry</a:t>
            </a:r>
            <a:r>
              <a:rPr lang="en-US" sz="1050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cheikh</a:t>
            </a:r>
            <a:r>
              <a:rPr lang="en-US" sz="1050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Montserrat" pitchFamily="34" charset="-122"/>
                <a:cs typeface="Montserrat" pitchFamily="34" charset="-120"/>
              </a:rPr>
              <a:t>                 </a:t>
            </a:r>
            <a:endParaRPr lang="en-US" sz="1050" dirty="0">
              <a:solidFill>
                <a:schemeClr val="tx2">
                  <a:lumMod val="40000"/>
                  <a:lumOff val="60000"/>
                </a:schemeClr>
              </a:solidFill>
              <a:latin typeface="Bahnschrift" panose="020B0502040204020203" pitchFamily="34" charset="0"/>
            </a:endParaRPr>
          </a:p>
          <a:p>
            <a:endParaRPr lang="fr-FR" sz="1100" b="1" dirty="0">
              <a:solidFill>
                <a:schemeClr val="tx2">
                  <a:lumMod val="40000"/>
                  <a:lumOff val="60000"/>
                </a:schemeClr>
              </a:solidFill>
              <a:latin typeface="Bahnschrift" panose="020B0502040204020203" pitchFamily="34" charset="0"/>
            </a:endParaRPr>
          </a:p>
          <a:p>
            <a:endParaRPr lang="fr-FR" sz="1800" b="1" dirty="0">
              <a:solidFill>
                <a:schemeClr val="tx2">
                  <a:lumMod val="40000"/>
                  <a:lumOff val="60000"/>
                </a:schemeClr>
              </a:solidFill>
              <a:latin typeface="Aileron Bold" panose="020B0604020202020204" charset="0"/>
            </a:endParaRPr>
          </a:p>
          <a:p>
            <a:endParaRPr lang="fr-FR" sz="1800" noProof="0" dirty="0">
              <a:solidFill>
                <a:schemeClr val="tx2">
                  <a:lumMod val="40000"/>
                  <a:lumOff val="60000"/>
                </a:schemeClr>
              </a:solidFill>
              <a:latin typeface="Aileron Bold" panose="020B0604020202020204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46BBF07-A23A-4BAF-83DF-10E704C76ACB}"/>
              </a:ext>
            </a:extLst>
          </p:cNvPr>
          <p:cNvSpPr txBox="1"/>
          <p:nvPr/>
        </p:nvSpPr>
        <p:spPr>
          <a:xfrm>
            <a:off x="5826760" y="2354136"/>
            <a:ext cx="2519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 SemiBold" panose="020B0502040204020203" pitchFamily="34" charset="0"/>
              </a:rPr>
              <a:t>Encadré par : </a:t>
            </a:r>
          </a:p>
          <a:p>
            <a:r>
              <a:rPr lang="fr-FR" sz="1200" dirty="0">
                <a:solidFill>
                  <a:schemeClr val="tx2">
                    <a:lumMod val="40000"/>
                    <a:lumOff val="60000"/>
                  </a:schemeClr>
                </a:solidFill>
                <a:latin typeface="Bahnschrift SemiBold" panose="020B0502040204020203" pitchFamily="34" charset="0"/>
              </a:rPr>
              <a:t>                       </a:t>
            </a:r>
            <a:r>
              <a:rPr lang="fr-FR" sz="1200" b="1" noProof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Dr. Cheikh Dhib</a:t>
            </a:r>
          </a:p>
          <a:p>
            <a:endParaRPr lang="fr-FR" sz="1200" noProof="0" dirty="0">
              <a:solidFill>
                <a:srgbClr val="8F9EC2"/>
              </a:solidFill>
              <a:latin typeface="Bahnschrift SemiBold" panose="020B0502040204020203" pitchFamily="34" charset="0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457200" y="228600"/>
            <a:ext cx="82296" cy="685800"/>
          </a:xfrm>
          <a:prstGeom prst="rect">
            <a:avLst/>
          </a:prstGeom>
          <a:solidFill>
            <a:srgbClr val="00C9A7"/>
          </a:solidFill>
          <a:ln>
            <a:noFill/>
          </a:ln>
        </p:spPr>
      </p:sp>
      <p:sp>
        <p:nvSpPr>
          <p:cNvPr id="3" name="Label"/>
          <p:cNvSpPr/>
          <p:nvPr/>
        </p:nvSpPr>
        <p:spPr>
          <a:xfrm>
            <a:off x="640080" y="228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000" b="1" kern="0" spc="600" dirty="0">
                <a:solidFill>
                  <a:srgbClr val="00C9A7"/>
                </a:solidFill>
                <a:latin typeface="Trebuchet MS" pitchFamily="34" charset="0"/>
              </a:rPr>
              <a:t>PLAN DE PRÉSENTATION</a:t>
            </a:r>
          </a:p>
        </p:txBody>
      </p:sp>
      <p:sp>
        <p:nvSpPr>
          <p:cNvPr id="4" name="Title"/>
          <p:cNvSpPr/>
          <p:nvPr/>
        </p:nvSpPr>
        <p:spPr>
          <a:xfrm>
            <a:off x="640080" y="54864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fr-FR" sz="4400" b="1" dirty="0">
              <a:solidFill>
                <a:srgbClr val="FFFFFF"/>
              </a:solidFill>
              <a:latin typeface="Georgia" pitchFamily="34" charset="0"/>
            </a:endParaRPr>
          </a:p>
        </p:txBody>
      </p:sp>
      <p:sp>
        <p:nvSpPr>
          <p:cNvPr id="6" name="Sep"/>
          <p:cNvSpPr/>
          <p:nvPr/>
        </p:nvSpPr>
        <p:spPr>
          <a:xfrm>
            <a:off x="457200" y="1463040"/>
            <a:ext cx="8229600" cy="27432"/>
          </a:xfrm>
          <a:prstGeom prst="rect">
            <a:avLst/>
          </a:prstGeom>
          <a:solidFill>
            <a:srgbClr val="1E3040"/>
          </a:solidFill>
          <a:ln>
            <a:noFill/>
          </a:ln>
        </p:spPr>
      </p:sp>
      <p:sp>
        <p:nvSpPr>
          <p:cNvPr id="10" name="Card1"/>
          <p:cNvSpPr/>
          <p:nvPr/>
        </p:nvSpPr>
        <p:spPr>
          <a:xfrm>
            <a:off x="457200" y="1400000"/>
            <a:ext cx="1920240" cy="1200000"/>
          </a:xfrm>
          <a:prstGeom prst="roundRect">
            <a:avLst>
              <a:gd name="adj" fmla="val 30000"/>
            </a:avLst>
          </a:prstGeom>
          <a:solidFill>
            <a:srgbClr val="112233"/>
          </a:solidFill>
          <a:ln w="19050">
            <a:solidFill>
              <a:srgbClr val="00C9A7"/>
            </a:solidFill>
          </a:ln>
        </p:spPr>
      </p:sp>
      <p:sp>
        <p:nvSpPr>
          <p:cNvPr id="11" name="CardNum1"/>
          <p:cNvSpPr/>
          <p:nvPr/>
        </p:nvSpPr>
        <p:spPr>
          <a:xfrm>
            <a:off x="548640" y="1446000"/>
            <a:ext cx="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dirty="0">
                <a:solidFill>
                  <a:srgbClr val="00C9A7"/>
                </a:solidFill>
                <a:latin typeface="Georgia" pitchFamily="34" charset="0"/>
              </a:rPr>
              <a:t>01</a:t>
            </a:r>
          </a:p>
        </p:txBody>
      </p:sp>
      <p:sp>
        <p:nvSpPr>
          <p:cNvPr id="12" name="CardText1"/>
          <p:cNvSpPr/>
          <p:nvPr/>
        </p:nvSpPr>
        <p:spPr>
          <a:xfrm>
            <a:off x="548640" y="2000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Trebuchet MS" pitchFamily="34" charset="0"/>
              </a:rPr>
              <a:t>Introduction</a:t>
            </a:r>
          </a:p>
        </p:txBody>
      </p:sp>
      <p:sp>
        <p:nvSpPr>
          <p:cNvPr id="20" name="Card2"/>
          <p:cNvSpPr/>
          <p:nvPr/>
        </p:nvSpPr>
        <p:spPr>
          <a:xfrm>
            <a:off x="2468880" y="1400000"/>
            <a:ext cx="1920240" cy="1200000"/>
          </a:xfrm>
          <a:prstGeom prst="roundRect">
            <a:avLst>
              <a:gd name="adj" fmla="val 30000"/>
            </a:avLst>
          </a:prstGeom>
          <a:solidFill>
            <a:srgbClr val="1A2A1A"/>
          </a:solidFill>
          <a:ln w="19050">
            <a:solidFill>
              <a:srgbClr val="F5A623"/>
            </a:solidFill>
          </a:ln>
        </p:spPr>
      </p:sp>
      <p:sp>
        <p:nvSpPr>
          <p:cNvPr id="21" name="CardNum2"/>
          <p:cNvSpPr/>
          <p:nvPr/>
        </p:nvSpPr>
        <p:spPr>
          <a:xfrm>
            <a:off x="2560320" y="1446000"/>
            <a:ext cx="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dirty="0">
                <a:solidFill>
                  <a:srgbClr val="F5A623"/>
                </a:solidFill>
                <a:latin typeface="Georgia" pitchFamily="34" charset="0"/>
              </a:rPr>
              <a:t>02</a:t>
            </a:r>
          </a:p>
        </p:txBody>
      </p:sp>
      <p:sp>
        <p:nvSpPr>
          <p:cNvPr id="22" name="CardText2"/>
          <p:cNvSpPr/>
          <p:nvPr/>
        </p:nvSpPr>
        <p:spPr>
          <a:xfrm>
            <a:off x="2560320" y="2000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Trebuchet MS" pitchFamily="34" charset="0"/>
              </a:rPr>
              <a:t>Objectifs</a:t>
            </a:r>
          </a:p>
        </p:txBody>
      </p:sp>
      <p:sp>
        <p:nvSpPr>
          <p:cNvPr id="30" name="Card3"/>
          <p:cNvSpPr/>
          <p:nvPr/>
        </p:nvSpPr>
        <p:spPr>
          <a:xfrm>
            <a:off x="4480560" y="1400000"/>
            <a:ext cx="1920240" cy="1200000"/>
          </a:xfrm>
          <a:prstGeom prst="roundRect">
            <a:avLst>
              <a:gd name="adj" fmla="val 30000"/>
            </a:avLst>
          </a:prstGeom>
          <a:solidFill>
            <a:srgbClr val="112233"/>
          </a:solidFill>
          <a:ln w="19050">
            <a:solidFill>
              <a:srgbClr val="00C9A7"/>
            </a:solidFill>
          </a:ln>
        </p:spPr>
      </p:sp>
      <p:sp>
        <p:nvSpPr>
          <p:cNvPr id="31" name="CardNum3"/>
          <p:cNvSpPr/>
          <p:nvPr/>
        </p:nvSpPr>
        <p:spPr>
          <a:xfrm>
            <a:off x="4572000" y="1446000"/>
            <a:ext cx="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dirty="0">
                <a:solidFill>
                  <a:srgbClr val="00C9A7"/>
                </a:solidFill>
                <a:latin typeface="Georgia" pitchFamily="34" charset="0"/>
              </a:rPr>
              <a:t>03</a:t>
            </a:r>
          </a:p>
        </p:txBody>
      </p:sp>
      <p:sp>
        <p:nvSpPr>
          <p:cNvPr id="32" name="CardText3"/>
          <p:cNvSpPr/>
          <p:nvPr/>
        </p:nvSpPr>
        <p:spPr>
          <a:xfrm>
            <a:off x="4572000" y="2000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Trebuchet MS" pitchFamily="34" charset="0"/>
              </a:rPr>
              <a:t>Profils &amp; Rôles</a:t>
            </a:r>
          </a:p>
        </p:txBody>
      </p:sp>
      <p:sp>
        <p:nvSpPr>
          <p:cNvPr id="40" name="Card4"/>
          <p:cNvSpPr/>
          <p:nvPr/>
        </p:nvSpPr>
        <p:spPr>
          <a:xfrm>
            <a:off x="6492240" y="1400000"/>
            <a:ext cx="1920240" cy="1200000"/>
          </a:xfrm>
          <a:prstGeom prst="roundRect">
            <a:avLst>
              <a:gd name="adj" fmla="val 30000"/>
            </a:avLst>
          </a:prstGeom>
          <a:solidFill>
            <a:srgbClr val="1A2A1A"/>
          </a:solidFill>
          <a:ln w="19050">
            <a:solidFill>
              <a:srgbClr val="F5A623"/>
            </a:solidFill>
          </a:ln>
        </p:spPr>
      </p:sp>
      <p:sp>
        <p:nvSpPr>
          <p:cNvPr id="41" name="CardNum4"/>
          <p:cNvSpPr/>
          <p:nvPr/>
        </p:nvSpPr>
        <p:spPr>
          <a:xfrm>
            <a:off x="6583680" y="1446000"/>
            <a:ext cx="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dirty="0">
                <a:solidFill>
                  <a:srgbClr val="F5A623"/>
                </a:solidFill>
                <a:latin typeface="Georgia" pitchFamily="34" charset="0"/>
              </a:rPr>
              <a:t>04</a:t>
            </a:r>
          </a:p>
        </p:txBody>
      </p:sp>
      <p:sp>
        <p:nvSpPr>
          <p:cNvPr id="42" name="CardText4"/>
          <p:cNvSpPr/>
          <p:nvPr/>
        </p:nvSpPr>
        <p:spPr>
          <a:xfrm>
            <a:off x="6583680" y="2000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Trebuchet MS" pitchFamily="34" charset="0"/>
              </a:rPr>
              <a:t>Fonctionnalités</a:t>
            </a:r>
          </a:p>
        </p:txBody>
      </p:sp>
      <p:sp>
        <p:nvSpPr>
          <p:cNvPr id="50" name="Card5"/>
          <p:cNvSpPr/>
          <p:nvPr/>
        </p:nvSpPr>
        <p:spPr>
          <a:xfrm>
            <a:off x="1463040" y="2800000"/>
            <a:ext cx="1920240" cy="1200000"/>
          </a:xfrm>
          <a:prstGeom prst="roundRect">
            <a:avLst>
              <a:gd name="adj" fmla="val 30000"/>
            </a:avLst>
          </a:prstGeom>
          <a:solidFill>
            <a:srgbClr val="112233"/>
          </a:solidFill>
          <a:ln w="19050">
            <a:solidFill>
              <a:srgbClr val="00C9A7"/>
            </a:solidFill>
          </a:ln>
        </p:spPr>
      </p:sp>
      <p:sp>
        <p:nvSpPr>
          <p:cNvPr id="51" name="CardNum5"/>
          <p:cNvSpPr/>
          <p:nvPr/>
        </p:nvSpPr>
        <p:spPr>
          <a:xfrm>
            <a:off x="1554480" y="2846000"/>
            <a:ext cx="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dirty="0">
                <a:solidFill>
                  <a:srgbClr val="00C9A7"/>
                </a:solidFill>
                <a:latin typeface="Georgia" pitchFamily="34" charset="0"/>
              </a:rPr>
              <a:t>05</a:t>
            </a:r>
          </a:p>
        </p:txBody>
      </p:sp>
      <p:sp>
        <p:nvSpPr>
          <p:cNvPr id="52" name="CardText5"/>
          <p:cNvSpPr/>
          <p:nvPr/>
        </p:nvSpPr>
        <p:spPr>
          <a:xfrm>
            <a:off x="1554480" y="3600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Trebuchet MS" pitchFamily="34" charset="0"/>
              </a:rPr>
              <a:t>Mentorat</a:t>
            </a:r>
          </a:p>
        </p:txBody>
      </p:sp>
      <p:sp>
        <p:nvSpPr>
          <p:cNvPr id="60" name="Card6"/>
          <p:cNvSpPr/>
          <p:nvPr/>
        </p:nvSpPr>
        <p:spPr>
          <a:xfrm>
            <a:off x="3474720" y="2800000"/>
            <a:ext cx="1920240" cy="1200000"/>
          </a:xfrm>
          <a:prstGeom prst="roundRect">
            <a:avLst>
              <a:gd name="adj" fmla="val 30000"/>
            </a:avLst>
          </a:prstGeom>
          <a:solidFill>
            <a:srgbClr val="1A2A1A"/>
          </a:solidFill>
          <a:ln w="19050">
            <a:solidFill>
              <a:srgbClr val="F5A623"/>
            </a:solidFill>
          </a:ln>
        </p:spPr>
      </p:sp>
      <p:sp>
        <p:nvSpPr>
          <p:cNvPr id="61" name="CardNum6"/>
          <p:cNvSpPr/>
          <p:nvPr/>
        </p:nvSpPr>
        <p:spPr>
          <a:xfrm>
            <a:off x="3566160" y="2846000"/>
            <a:ext cx="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dirty="0">
                <a:solidFill>
                  <a:srgbClr val="F5A623"/>
                </a:solidFill>
                <a:latin typeface="Georgia" pitchFamily="34" charset="0"/>
              </a:rPr>
              <a:t>06</a:t>
            </a:r>
          </a:p>
        </p:txBody>
      </p:sp>
      <p:sp>
        <p:nvSpPr>
          <p:cNvPr id="62" name="CardText6"/>
          <p:cNvSpPr/>
          <p:nvPr/>
        </p:nvSpPr>
        <p:spPr>
          <a:xfrm>
            <a:off x="3566160" y="3600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Trebuchet MS" pitchFamily="34" charset="0"/>
              </a:rPr>
              <a:t>Architecture</a:t>
            </a:r>
          </a:p>
        </p:txBody>
      </p:sp>
      <p:sp>
        <p:nvSpPr>
          <p:cNvPr id="70" name="Card7"/>
          <p:cNvSpPr/>
          <p:nvPr/>
        </p:nvSpPr>
        <p:spPr>
          <a:xfrm>
            <a:off x="5486400" y="2800000"/>
            <a:ext cx="1920240" cy="1200000"/>
          </a:xfrm>
          <a:prstGeom prst="roundRect">
            <a:avLst>
              <a:gd name="adj" fmla="val 30000"/>
            </a:avLst>
          </a:prstGeom>
          <a:solidFill>
            <a:srgbClr val="112233"/>
          </a:solidFill>
          <a:ln w="19050">
            <a:solidFill>
              <a:srgbClr val="00C9A7"/>
            </a:solidFill>
          </a:ln>
        </p:spPr>
      </p:sp>
      <p:sp>
        <p:nvSpPr>
          <p:cNvPr id="71" name="CardNum7"/>
          <p:cNvSpPr/>
          <p:nvPr/>
        </p:nvSpPr>
        <p:spPr>
          <a:xfrm>
            <a:off x="5577840" y="2846000"/>
            <a:ext cx="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dirty="0">
                <a:solidFill>
                  <a:srgbClr val="00C9A7"/>
                </a:solidFill>
                <a:latin typeface="Georgia" pitchFamily="34" charset="0"/>
              </a:rPr>
              <a:t>07</a:t>
            </a:r>
          </a:p>
        </p:txBody>
      </p:sp>
      <p:sp>
        <p:nvSpPr>
          <p:cNvPr id="72" name="CardText7"/>
          <p:cNvSpPr/>
          <p:nvPr/>
        </p:nvSpPr>
        <p:spPr>
          <a:xfrm>
            <a:off x="5577840" y="3600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b="1" dirty="0">
                <a:solidFill>
                  <a:srgbClr val="FFFFFF"/>
                </a:solidFill>
                <a:latin typeface="Trebuchet MS" pitchFamily="34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A2836"/>
          </a:solidFill>
          <a:ln w="12700">
            <a:solidFill>
              <a:srgbClr val="1A2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0"/>
            <a:ext cx="4572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C9A7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" y="1325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Contexte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12801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Institut Supérieur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 Numérique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71800" y="320040"/>
            <a:ext cx="5897880" cy="1325880"/>
          </a:xfrm>
          <a:prstGeom prst="rect">
            <a:avLst/>
          </a:prstGeom>
          <a:solidFill>
            <a:srgbClr val="162230"/>
          </a:solidFill>
          <a:ln w="12700">
            <a:solidFill>
              <a:srgbClr val="2E40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71800" y="320040"/>
            <a:ext cx="64008" cy="1325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4572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 Formation d'Excellence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850392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SupNum forme des experts en DSI, RSS et DWM — profils très recherchés.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71800" y="1828800"/>
            <a:ext cx="5897880" cy="1325880"/>
          </a:xfrm>
          <a:prstGeom prst="rect">
            <a:avLst/>
          </a:prstGeom>
          <a:solidFill>
            <a:srgbClr val="162230"/>
          </a:solidFill>
          <a:ln w="12700">
            <a:solidFill>
              <a:srgbClr val="2E40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71800" y="1828800"/>
            <a:ext cx="64008" cy="1325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9659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Le Manque de Lien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54680" y="2359152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Absence d'un pont solide entre étudiants actifs et diplômés (Alumni).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71800" y="3337560"/>
            <a:ext cx="5897880" cy="1325880"/>
          </a:xfrm>
          <a:prstGeom prst="rect">
            <a:avLst/>
          </a:prstGeom>
          <a:solidFill>
            <a:srgbClr val="162230"/>
          </a:solidFill>
          <a:ln w="12700">
            <a:solidFill>
              <a:srgbClr val="2E40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71800" y="3337560"/>
            <a:ext cx="64008" cy="1325880"/>
          </a:xfrm>
          <a:prstGeom prst="rect">
            <a:avLst/>
          </a:prstGeom>
          <a:solidFill>
            <a:srgbClr val="F5A623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3474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La Solution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54680" y="3867912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SupNum Connect : plateforme centralisée pour le réseautage, mentorat et recrutement.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OBJECTIFS DU PROJET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 4 Piliers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160020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1148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6459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Fédérer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25880" y="20574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Créer une communauté active d'anciens élèves engagés.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417320"/>
            <a:ext cx="4114800" cy="160020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417320"/>
            <a:ext cx="41148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15544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1645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Accompagner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623560" y="20574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Mettre en place un programme de mentorat structuré.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5760" y="3200400"/>
            <a:ext cx="4114800" cy="160020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200400"/>
            <a:ext cx="41148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2920" y="33375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4290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2588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Recruter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325880" y="38404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Proposer des opportunités exclusives via les Alumni.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663440" y="3200400"/>
            <a:ext cx="4114800" cy="160020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3200400"/>
            <a:ext cx="41148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00600" y="33375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342900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Piloter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623560" y="38404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Statistiques précises sur le devenir des diplômés.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PROFILS &amp; RÔLES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 utilise la plateforme 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356616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CONTRÔLE</a:t>
            </a:r>
            <a:endParaRPr lang="en-US" sz="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69164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Administrateur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7240" y="3017520"/>
            <a:ext cx="182880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15468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 Validation des comptes Alumni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68503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 Modération globale du contenu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4215384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 Tableau de bord &amp; statistiques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1325880"/>
            <a:ext cx="2743200" cy="356616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37560" y="1417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37560" y="1417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</a:t>
            </a:r>
            <a:endParaRPr lang="en-US" sz="7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691640"/>
            <a:ext cx="731520" cy="7315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0040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Alumni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3657600" y="3017520"/>
            <a:ext cx="1828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83280" y="315468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 Publication d'offres (stage/emploi)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83280" y="368503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 Gestion des candidatures reçues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383280" y="4215384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 Disponibilité pour le mentorat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080760" y="1325880"/>
            <a:ext cx="2743200" cy="356616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17920" y="1417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17920" y="1417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APPRENANT</a:t>
            </a:r>
            <a:endParaRPr lang="en-US" sz="75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691640"/>
            <a:ext cx="731520" cy="7315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08076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Étudiant</a:t>
            </a:r>
            <a:endParaRPr lang="en-US" sz="1700" dirty="0"/>
          </a:p>
        </p:txBody>
      </p:sp>
      <p:sp>
        <p:nvSpPr>
          <p:cNvPr id="28" name="Shape 23"/>
          <p:cNvSpPr/>
          <p:nvPr/>
        </p:nvSpPr>
        <p:spPr>
          <a:xfrm>
            <a:off x="6537960" y="3017520"/>
            <a:ext cx="1828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263640" y="315468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 Recherche &amp; postulation en ligne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63640" y="368503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 Construction du réseau professionnel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263640" y="4215384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 Accès aux mentors Alumni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FONCTIONNALITÉS CLÉS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SupNum Connect offre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150876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685800" cy="68580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700784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54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 Réseau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1965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Connexions, messagerie privée, profils membres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371600"/>
            <a:ext cx="2651760" cy="150876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1645920"/>
            <a:ext cx="685800" cy="68580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4" y="1700784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06240" y="1554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Offres d'Emploi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206240" y="1965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Stage, emploi, alternance — activation temps réel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35040" y="1371600"/>
            <a:ext cx="2651760" cy="150876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1645920"/>
            <a:ext cx="685800" cy="685800"/>
          </a:xfrm>
          <a:prstGeom prst="ellipse">
            <a:avLst/>
          </a:prstGeom>
          <a:solidFill>
            <a:srgbClr val="FF6B6B">
              <a:alpha val="15000"/>
            </a:srgbClr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700784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0" y="1554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Candidatures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040880" y="1965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Postulation en ligne et suivi des candidatures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65760" y="3063240"/>
            <a:ext cx="2651760" cy="150876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" y="3337560"/>
            <a:ext cx="685800" cy="68580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3392424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2461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Messagerie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371600" y="36576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 directe entre membres du réseau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00400" y="3063240"/>
            <a:ext cx="2651760" cy="150876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383280" y="3337560"/>
            <a:ext cx="685800" cy="68580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3392424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206240" y="32461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Statistiques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206240" y="36576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Graphiques dynamiques sur la page d'accueil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35040" y="3063240"/>
            <a:ext cx="2651760" cy="150876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17920" y="3337560"/>
            <a:ext cx="685800" cy="685800"/>
          </a:xfrm>
          <a:prstGeom prst="ellipse">
            <a:avLst/>
          </a:prstGeom>
          <a:solidFill>
            <a:srgbClr val="FF6B6B">
              <a:alpha val="15000"/>
            </a:srgbClr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3392424"/>
            <a:ext cx="548640" cy="5486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40880" y="32461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JWT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7040880" y="36576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Authentification sécurisée @supnum.mr uniquement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D2378-8379-5DDE-C2F6-0D99C016C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41">
            <a:extLst>
              <a:ext uri="{FF2B5EF4-FFF2-40B4-BE49-F238E27FC236}">
                <a16:creationId xmlns:a16="http://schemas.microsoft.com/office/drawing/2014/main" id="{28F498CA-816B-F553-0F06-3B04C8108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66560" cy="5143500"/>
          </a:xfrm>
          <a:prstGeom prst="rect">
            <a:avLst/>
          </a:prstGeom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7DE63025-4033-0C06-DF91-192B8BF02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-144780"/>
            <a:ext cx="288036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37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13FCC-9D90-8F0A-6BDE-4DC97A15B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BFC2E2D-C70D-103A-D384-ACF67B07F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6002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101E5B7-6816-B4F2-6457-EA2B9B17E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94487"/>
            <a:ext cx="9144000" cy="357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3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A2836"/>
          </a:solidFill>
          <a:ln w="12700">
            <a:solidFill>
              <a:srgbClr val="1A2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0"/>
            <a:ext cx="4572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200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5A623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" y="12801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Mentorat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4630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9260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réseau qui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 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parcours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274320"/>
            <a:ext cx="5897880" cy="822960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32004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Concept : Les Alumni indiquent leur disponibilité pour guider les étudiants vers leur carrière.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71800" y="1261872"/>
            <a:ext cx="594360" cy="5943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2618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12618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Partage d'expérience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1655064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Alumni partagent leur vécu en entreprise et leurs conseils métiers.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71800" y="2496312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24963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9040" y="24963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Conseils spécialisés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2889504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Accompagnement ciblé selon les filières DSI, RSS et DWM.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71800" y="3730752"/>
            <a:ext cx="594360" cy="5943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37307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49040" y="3730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Insertion pro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4123944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Aide concrète pour trouver un stage, un emploi ou une alternance.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TECHNIQUE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Technologique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50876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17320" y="155448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1732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React.js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417320" y="18928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17320" y="22677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 moderne, responsive, mode sombre intégré.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371600"/>
            <a:ext cx="4114800" cy="150876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37360"/>
            <a:ext cx="685800" cy="685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760720" y="155448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6072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/ Express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760720" y="18928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760720" y="22677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RESTful sécurisée, architecture MVC.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3063240"/>
            <a:ext cx="4114800" cy="150876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29000"/>
            <a:ext cx="685800" cy="6858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417320" y="324612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417320" y="3246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417320" y="35844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Données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417320" y="39593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 relationnelle des utilisateurs, offres et messages.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09160" y="3063240"/>
            <a:ext cx="4114800" cy="150876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429000"/>
            <a:ext cx="685800" cy="6858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760720" y="324612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760720" y="3246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+ @supnum.mr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760720" y="35844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760720" y="39593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Authentification robuste, accès restreint au domaine.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24F8B4-C081-6803-4CE8-4495272D7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 : avec coins arrondis en haut 28">
            <a:extLst>
              <a:ext uri="{FF2B5EF4-FFF2-40B4-BE49-F238E27FC236}">
                <a16:creationId xmlns:a16="http://schemas.microsoft.com/office/drawing/2014/main" id="{A9A80FA6-DEE8-67A1-EB78-2FA19E7C89E9}"/>
              </a:ext>
            </a:extLst>
          </p:cNvPr>
          <p:cNvSpPr/>
          <p:nvPr/>
        </p:nvSpPr>
        <p:spPr>
          <a:xfrm>
            <a:off x="1470660" y="1676400"/>
            <a:ext cx="4846320" cy="990600"/>
          </a:xfrm>
          <a:prstGeom prst="round2Same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bg1"/>
                </a:solidFill>
              </a:rPr>
              <a:t>Démonstration</a:t>
            </a:r>
            <a:endParaRPr lang="fr-MR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117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7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046720" cy="685800"/>
          </a:xfrm>
          <a:prstGeom prst="rect">
            <a:avLst/>
          </a:prstGeom>
          <a:solidFill>
            <a:srgbClr val="1A2836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74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029968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 : plateforme fonctionnelle, sécurisée, connectée à la base de données réelle de SupNum.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2651760" cy="160020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834640"/>
            <a:ext cx="26517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926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85800" y="358444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mobile dédiée Android &amp; iOS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2834640"/>
            <a:ext cx="2651760" cy="160020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2834640"/>
            <a:ext cx="2651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2926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520440" y="358444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Événements de networking en présentiel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2834640"/>
            <a:ext cx="2651760" cy="1600200"/>
          </a:xfrm>
          <a:prstGeom prst="rect">
            <a:avLst/>
          </a:prstGeom>
          <a:solidFill>
            <a:srgbClr val="1A2836"/>
          </a:solidFill>
          <a:ln w="12700">
            <a:solidFill>
              <a:srgbClr val="2E404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2834640"/>
            <a:ext cx="26517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2926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355080" y="358444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Recommandation d'offres par compétences (IA)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40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SupNum Connect  •  Institut Supérieur du Numérique  •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ZoneTexte 21">
            <a:extLst>
              <a:ext uri="{FF2B5EF4-FFF2-40B4-BE49-F238E27FC236}">
                <a16:creationId xmlns:a16="http://schemas.microsoft.com/office/drawing/2014/main" id="{EBB05818-1AD2-4F6E-A167-399D32F01D65}"/>
              </a:ext>
            </a:extLst>
          </p:cNvPr>
          <p:cNvSpPr txBox="1"/>
          <p:nvPr/>
        </p:nvSpPr>
        <p:spPr>
          <a:xfrm>
            <a:off x="1605280" y="1300480"/>
            <a:ext cx="556768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Montserrat Bold" panose="00000800000000000000" charset="0"/>
              </a:rPr>
              <a:t>Merci pour votre attention ! </a:t>
            </a:r>
            <a:endParaRPr lang="fr-FR" sz="2800" b="1" noProof="0" dirty="0">
              <a:solidFill>
                <a:schemeClr val="tx2">
                  <a:lumMod val="40000"/>
                  <a:lumOff val="60000"/>
                </a:schemeClr>
              </a:solidFill>
              <a:latin typeface="Montserrat Bold" panose="00000800000000000000" charset="0"/>
              <a:sym typeface="Aileron Bold"/>
            </a:endParaRPr>
          </a:p>
          <a:p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E7E2AD7-463F-446D-9647-17FAB0F07493}"/>
              </a:ext>
            </a:extLst>
          </p:cNvPr>
          <p:cNvSpPr txBox="1"/>
          <p:nvPr/>
        </p:nvSpPr>
        <p:spPr>
          <a:xfrm>
            <a:off x="142240" y="4016514"/>
            <a:ext cx="39827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Berlin Sans FB" panose="020E0602020502020306" pitchFamily="34" charset="0"/>
              </a:rPr>
              <a:t>Contact:</a:t>
            </a:r>
          </a:p>
          <a:p>
            <a:r>
              <a:rPr lang="fr-FR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Aileron Bold" panose="020B0604020202020204" charset="0"/>
              </a:rPr>
              <a:t>contact.supnumclubs@gmail.com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5020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2905</TotalTime>
  <Words>506</Words>
  <Application>Microsoft Office PowerPoint</Application>
  <PresentationFormat>Affichage à l'écran (16:9)</PresentationFormat>
  <Paragraphs>143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6" baseType="lpstr">
      <vt:lpstr>Aileron Bold</vt:lpstr>
      <vt:lpstr>Aptos</vt:lpstr>
      <vt:lpstr>Arial</vt:lpstr>
      <vt:lpstr>Bahnschrift</vt:lpstr>
      <vt:lpstr>Bahnschrift Condensed</vt:lpstr>
      <vt:lpstr>Bahnschrift SemiBold</vt:lpstr>
      <vt:lpstr>Berlin Sans FB</vt:lpstr>
      <vt:lpstr>Georgia</vt:lpstr>
      <vt:lpstr>Montserrat Bold</vt:lpstr>
      <vt:lpstr>Times New Roman</vt:lpstr>
      <vt:lpstr>Trebuchet MS</vt:lpstr>
      <vt:lpstr>TT Supermolot Neue Expanded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SupNum Connect Alumni</dc:title>
  <dc:subject>PptxGenJS Presentation</dc:subject>
  <dc:creator>PptxGenJS</dc:creator>
  <cp:lastModifiedBy>EBOUBEKRINE M.BOWBE</cp:lastModifiedBy>
  <cp:revision>17</cp:revision>
  <dcterms:created xsi:type="dcterms:W3CDTF">2026-03-06T01:30:13Z</dcterms:created>
  <dcterms:modified xsi:type="dcterms:W3CDTF">2026-03-11T16:08:58Z</dcterms:modified>
</cp:coreProperties>
</file>